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306" r:id="rId32"/>
    <p:sldId id="307" r:id="rId33"/>
    <p:sldId id="308" r:id="rId34"/>
    <p:sldId id="309" r:id="rId35"/>
    <p:sldId id="310" r:id="rId36"/>
    <p:sldId id="311" r:id="rId37"/>
  </p:sldIdLst>
  <p:sldSz cx="9144000" cy="5143500" type="screen16x9"/>
  <p:notesSz cx="6858000" cy="9144000"/>
  <p:embeddedFontLst>
    <p:embeddedFont>
      <p:font typeface="Old Standard TT" panose="020B0604020202020204" charset="0"/>
      <p:regular r:id="rId39"/>
      <p:bold r:id="rId40"/>
      <p:italic r:id="rId41"/>
    </p:embeddedFont>
    <p:embeddedFont>
      <p:font typeface="Roboto Mono" panose="00000009000000000000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5245DA-EBFA-4C08-B392-98B1344559A6}">
  <a:tblStyle styleId="{465245DA-EBFA-4C08-B392-98B134455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D601B9-6C2A-4BF0-A439-E1376628A29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>
        <p:scale>
          <a:sx n="100" d="100"/>
          <a:sy n="100" d="100"/>
        </p:scale>
        <p:origin x="200" y="-5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7dcb01c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7dcb01c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035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035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7dcb01c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7dcb01c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7dcb01c4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7dcb01c4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7dcb01c4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7dcb01c4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7dcb01c4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7dcb01c4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7dcb01c43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7dcb01c43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7dcb01c4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7dcb01c43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7dcb01c4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7dcb01c4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7dcb01c43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7dcb01c43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7dcb01c4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7dcb01c4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7dcb01c4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7dcb01c4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7dcb01c43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7dcb01c43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7dcb01c4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7dcb01c4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7dcb01c43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7dcb01c43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7dcb01c43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7dcb01c43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7dcb01c4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7dcb01c4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5e5b996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5e5b996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851766b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851766b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851766b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851766b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851766b0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1851766b0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7dcb01c43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7dcb01c43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851766b0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851766b0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851766b0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1851766b0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851766b0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851766b0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851766b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1851766b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1851766b0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1851766b0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851766b0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851766b0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1851766b0d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1851766b0d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851766b0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851766b0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851766b0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1851766b0d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5728A1D0-2C67-E188-1BF6-94061DB7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>
            <a:extLst>
              <a:ext uri="{FF2B5EF4-FFF2-40B4-BE49-F238E27FC236}">
                <a16:creationId xmlns:a16="http://schemas.microsoft.com/office/drawing/2014/main" id="{012199E8-4DA9-0B4C-BD5B-09F6021CA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>
            <a:extLst>
              <a:ext uri="{FF2B5EF4-FFF2-40B4-BE49-F238E27FC236}">
                <a16:creationId xmlns:a16="http://schemas.microsoft.com/office/drawing/2014/main" id="{92C876F9-DCB9-ABF4-1B18-5D75ED570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50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Provisioning Automation with Terraform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4939500" y="269421"/>
            <a:ext cx="3837000" cy="42372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Introduction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Setting up Terraform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Basics of Terraform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Terraform Inputs/Outputs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Terraform conditionals and loops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Terraform modules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Terraform state management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Managing multiple environments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 dirty="0"/>
              <a:t>Working with multiple providers</a:t>
            </a:r>
            <a:endParaRPr sz="1000" dirty="0"/>
          </a:p>
          <a:p>
            <a:pPr marL="457200" lvl="0" indent="-292100" algn="l" rtl="0">
              <a:spcBef>
                <a:spcPts val="1600"/>
              </a:spcBef>
              <a:spcAft>
                <a:spcPts val="1600"/>
              </a:spcAft>
              <a:buSzPts val="1000"/>
              <a:buChar char="●"/>
            </a:pPr>
            <a:r>
              <a:rPr lang="en" sz="1000" dirty="0"/>
              <a:t>Misc. topics</a:t>
            </a:r>
            <a:endParaRPr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What is IAC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What is Terraform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IAC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7746450" cy="2828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Life Before IAC and Issues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Manual provisioning of infrastructure was time-consuming and error-prone.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Lack of consistency across environments (dev, test, production).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Hard to scale: manual configuration couldn't meet the demands of rapid growth.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Troubleshooting and debugging were difficult due to undocumented changes.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Limited collaboration: Infrastructure knowledge often stayed within specific teams or individuals.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Recovery was slow and cumbersome in case of failures due to lack of automation.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699" y="1171675"/>
            <a:ext cx="7672971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How IAC Solved the Problems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Automation: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Provision infrastructure automatically, reducing human errors.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Ensures identical setups across all environments.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Makes scaling up or down seamless with minimal effort.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Version Control: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Infrastructure configurations can be managed like application code (Git, etc.).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Teams can work together on infrastructure using familiar development workflows.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Faster setup of environments and disaster recovery.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Terraform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Terraform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699" y="1171675"/>
            <a:ext cx="7893407" cy="3351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Terraform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 is an open-source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Infrastructure as Code (IaC)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 tool developed by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HashiCorp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designed to automate the provisioning and management of cloud, on-premises, and hybrid infrastructure.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It enables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declarative configuration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allowing users to define their desired infrastructure state using a simple, human-readable language called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HashiCorp Configuration Language (HCL)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Terraform is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provider-agnostic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supporting major cloud platforms like AWS, Azure, Google Cloud, and on-prem solutions such as VMware or OpenStack.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By maintaining a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Terraform ensures that the infrastructure aligns with the defined configuration, making it easy to detect and reconcile changes.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Lifecycle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Write Configuration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Users define the desired infrastructure in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files using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HCL (HashiCorp Configuration Language)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Configurations specify resources, dependencies, and parameters like instance types, regions, and networks.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Initialize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downloads necessary provider plugins to interact with the specified infrastructure platforms (e.g., AWS, Azure, GCP).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Plan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plan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compares the desired state defined in the configuration files against the current state in the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It generates an execution plan showing what changes (create, update, delete) will be made to achieve the desired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Apply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Executes the plan, creating, updating, or deleting resources to match the desired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After applying changes, Terraform updates the state file to reflect the new current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Destroy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destroy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Deletes all resources defined in the configuration file, ensuring infrastructure cleanup.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Terraform</a:t>
            </a: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Installation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Installation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installation is fairly easy process, Terraform can be installed using official binary from below link:</a:t>
            </a:r>
            <a:br>
              <a:rPr lang="en" sz="1100" b="1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https://developer.hashicorp.com/terraform/tutorials/aws-get-started/install-cli 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Terraform</a:t>
            </a: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File structure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use cases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Inputs/Outputs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Variables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Passing Variable Values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outputs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Variables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Variables are placeholders for values that are passed into Terraform configurations.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Benefits of using variables: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Makes configurations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dynamic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reusable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Simplifies updates by avoiding hard-coded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Improves collaboration by abstracting sensitive or environment-specific details.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Types of Variables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Single line of text.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Numeric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Bool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Array of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Key-value pairs.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Variable Assignment</a:t>
            </a:r>
            <a:endParaRPr/>
          </a:p>
        </p:txBody>
      </p:sp>
      <p:sp>
        <p:nvSpPr>
          <p:cNvPr id="176" name="Google Shape;176;p32"/>
          <p:cNvSpPr txBox="1">
            <a:spLocks noGrp="1"/>
          </p:cNvSpPr>
          <p:nvPr>
            <p:ph type="body" idx="1"/>
          </p:nvPr>
        </p:nvSpPr>
        <p:spPr>
          <a:xfrm>
            <a:off x="344900" y="101237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Ways to Assign Values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Command-Line Flags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Use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-var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during execution: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 "region=us-east-1"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Variable Files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Store in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.tfvars.json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-var-file="example.tfvars"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Environment Variables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Use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TF_VAR_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prefix: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export TF_VAR_region="us-east-1"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Default Value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Defined in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block.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Outputs</a:t>
            </a:r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Outputs provide data from your infrastructure to use elsewhere or for debugging.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Common use cases: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Sharing outputs with other configurations.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Displaying important information after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apply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output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to retrieve outputs: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output instance_public_ip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Conditionals and Looping</a:t>
            </a:r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Count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for_each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 dirty="0"/>
              <a:t>Terraform Conditionals</a:t>
            </a:r>
            <a:endParaRPr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looping</a:t>
            </a:r>
            <a:endParaRPr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provides mechanisms for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repeating tasks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and managing multiple resources efficiently.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of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loops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allows for dynamic creation of multiple resources, saving time and reducing redundancy.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supports loops using: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Repeats resources a specific number of times based on an integer value.</a:t>
            </a:r>
            <a:endParaRPr sz="11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for_each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Iterates over a collection to create multiple resources.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/>
              <a:t> meta-argument</a:t>
            </a:r>
            <a:endParaRPr/>
          </a:p>
        </p:txBody>
      </p:sp>
      <p:sp>
        <p:nvSpPr>
          <p:cNvPr id="200" name="Google Shape;200;p3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IN"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is used to create multiple instances of a resource based on an integer.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Example: Creating Multiple EC2 Instances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count = 3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"ami-12345678"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"example-${count.index}"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for-each</a:t>
            </a:r>
            <a:r>
              <a:rPr lang="en"/>
              <a:t> meta-argument</a:t>
            </a:r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for_each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used when working with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complex data structures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(maps, sets, or lists) to create resources based on each element of the collection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Example: Creating Resources from a Map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 "subnets"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type = map(string)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default =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"subnet1" = "10.0.1.0/24"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"subnet2" = "10.0.2.0/24"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"aws_subnet" "example"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for_each = var.subnets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vpc_id   = "vpc-12345678"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cidr_block = each.value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availability_zone = "us-east-1a"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each.key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Conditionals</a:t>
            </a:r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Conditionals allow logic-based configurations in Terraform to adapt resource or variable values dynamically.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Example use cases: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Toggling features (e.g., enabling/disabling resources).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Setting environment-specific values (e.g., production vs. development).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    Key Syntax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" sz="1100">
                <a:highlight>
                  <a:srgbClr val="999999"/>
                </a:highlight>
                <a:latin typeface="Arial"/>
                <a:ea typeface="Arial"/>
                <a:cs typeface="Arial"/>
                <a:sym typeface="Arial"/>
              </a:rPr>
              <a:t>condition ? true_value : false_value</a:t>
            </a:r>
            <a:endParaRPr sz="1100"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Example: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         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50" y="3606998"/>
            <a:ext cx="7008427" cy="10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</a:t>
            </a:r>
            <a:endParaRPr/>
          </a:p>
        </p:txBody>
      </p:sp>
      <p:sp>
        <p:nvSpPr>
          <p:cNvPr id="233" name="Google Shape;233;p41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What are Terraform Modules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Modules Usage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 dirty="0"/>
              <a:t>Using remote modules</a:t>
            </a:r>
            <a:endParaRPr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</a:t>
            </a:r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module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a container for multiple resources that are used together. Modules allow you to organize and reuse your configuration across projects and teams.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Below are some of the features of Terraform modules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Reusability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Avoid duplicating code by using the same module in multiple places.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Organization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Break down complex configurations into manageable units.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Consistency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Apply the same standards and practices across projects.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 Usage</a:t>
            </a:r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module "example_instance"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source          = "./modules/example"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ami_id          = "ami-12345678"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  = "t2.micro"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instance_name   = "ExampleInstance"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output "instance_id"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value = module.example_instance.instance_id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Management</a:t>
            </a:r>
            <a:endParaRPr/>
          </a:p>
        </p:txBody>
      </p:sp>
      <p:sp>
        <p:nvSpPr>
          <p:cNvPr id="251" name="Google Shape;251;p4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Remote Backend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State Locking</a:t>
            </a:r>
            <a:endParaRPr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Remote Management</a:t>
            </a:r>
            <a:endParaRPr/>
          </a:p>
        </p:txBody>
      </p:sp>
      <p:sp>
        <p:nvSpPr>
          <p:cNvPr id="257" name="Google Shape;257;p4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Remote state management involves storing Terraform state file in a remote backend instead of the local disk. This approach is essential for collaboration, consistency, and security in multi-user or team environments.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Below are some of the features of Terraform State Remote Management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Multiple team members can work on the same infrastructure while sharing a single source of truth.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Centralized state ensures all users have access to the latest infrastructure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Backups: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Many remote backends provide automatic backups and versioning.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Security: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Remote backends can encrypt the state file and use access controls.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Remote Management</a:t>
            </a:r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Amazon S3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backend "s3"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bucket         = "my-terraform-state"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key            = "prod/terraform.tfstate"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region         = "us-east-1"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backend config can also be passed using custom .tfvars file using below command: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 -backend-config=backend-config.tfvrs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Locking</a:t>
            </a:r>
            <a:endParaRPr/>
          </a:p>
        </p:txBody>
      </p:sp>
      <p:sp>
        <p:nvSpPr>
          <p:cNvPr id="269" name="Google Shape;269;p47"/>
          <p:cNvSpPr txBox="1">
            <a:spLocks noGrp="1"/>
          </p:cNvSpPr>
          <p:nvPr>
            <p:ph type="body" idx="1"/>
          </p:nvPr>
        </p:nvSpPr>
        <p:spPr>
          <a:xfrm>
            <a:off x="311700" y="6901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State locking prevents multiple users from modifying the state file simultaneously, which could corrupt the file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S3 backend locking can be enabled using DynamoDB table.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Enabling state locking in dynamodb for s3 backend: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Create a DynamoDB table for locking: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In AWS Management Console: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Create a table with the name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terraform-lock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LockID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as the partition key (string type).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Configure Terraform: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{</a:t>
            </a:r>
            <a:endParaRPr sz="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backend "s3" {</a:t>
            </a:r>
            <a:endParaRPr sz="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bucket         = "my-terraform-state"</a:t>
            </a:r>
            <a:endParaRPr sz="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key            = "prod/terraform.tfstate"</a:t>
            </a:r>
            <a:endParaRPr sz="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region         = "us-east-1"</a:t>
            </a:r>
            <a:endParaRPr sz="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dynamodb_table = "terraform-lock"</a:t>
            </a:r>
            <a:endParaRPr sz="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a manually created resource using TF</a:t>
            </a:r>
            <a:endParaRPr/>
          </a:p>
        </p:txBody>
      </p:sp>
      <p:sp>
        <p:nvSpPr>
          <p:cNvPr id="275" name="Google Shape;275;p48"/>
          <p:cNvSpPr txBox="1">
            <a:spLocks noGrp="1"/>
          </p:cNvSpPr>
          <p:nvPr>
            <p:ph type="body" idx="1"/>
          </p:nvPr>
        </p:nvSpPr>
        <p:spPr>
          <a:xfrm>
            <a:off x="311700" y="10910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Import: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Import is a feature that allows you to bring existing infrastructure resources into Terraform state file. This is useful for managing infrastructure that was created outside of Terraform or when migrating to Terraform.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 How Does Terraform Import Work: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Import adds an existing resource to Terraform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not the configuration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After the import, you must manually write the resource configuration in your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files to match the imported resource.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import [options] &lt;RESOURCE_TYPE.NAME&gt; &lt;RESOURCE_ID&gt;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Verify the Import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Unmanage a TF created resource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body" idx="1"/>
          </p:nvPr>
        </p:nvSpPr>
        <p:spPr>
          <a:xfrm>
            <a:off x="311700" y="10910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State rm: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rm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command removes a resource from Terraform state file without destroying the resource itself. This makes Terraform "forget" the resource, effectively unmanaging it.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rm &lt;RESOURCE_ADDRESS&gt;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Verify the Resource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3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Misc. Topics</a:t>
            </a:r>
            <a:endParaRPr/>
          </a:p>
        </p:txBody>
      </p:sp>
      <p:sp>
        <p:nvSpPr>
          <p:cNvPr id="365" name="Google Shape;365;p63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sources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Locals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taint/untaint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fmt, validate</a:t>
            </a:r>
            <a:endParaRPr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371" name="Google Shape;371;p64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Data sources allow you to fetch existing information from your cloud infrastructure or other external systems without creating or modifying resources.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Retrieve the ID of an existing AWS VPC to associate a new resource with it.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Fetch an existing VPC by its name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"aws_vpc"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filter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  = "tag:Name"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values = ["example-vpc"]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Use the VPC ID in a new resource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"aws_subnet"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vpc_id     = data.aws_vpc.example.id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cidr_block = "10.0.1.0/24"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Locals</a:t>
            </a:r>
            <a:endParaRPr/>
          </a:p>
        </p:txBody>
      </p:sp>
      <p:sp>
        <p:nvSpPr>
          <p:cNvPr id="377" name="Google Shape;377;p6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Locals are named values or expressions that can be referenced multiple times in a configuration to avoid repetition.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Define commonly used tags for resources in one place.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locals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common_tags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Environment = "dev"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Owner       = "team-terraform"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"ami-0c55b159cbfafe1f0"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local.common_tags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Taint/Untaint</a:t>
            </a:r>
            <a:endParaRPr/>
          </a:p>
        </p:txBody>
      </p:sp>
      <p:sp>
        <p:nvSpPr>
          <p:cNvPr id="383" name="Google Shape;383;p6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Terraform Taint 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force Terraform to destroy and recreate a resource without changing the configuration.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Taint a Resource: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taint aws_instance.example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Marks the resource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aws_instance.example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for recreation in the next apply.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Untaint a Resource: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untaint aws_instance.example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Removes the taint and prevents recreation during the next apply.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Use Case Example: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If a resource is in an inconsistent state but the configuration hasn't changed, tainting it ensures it's rebuilt.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fmt and validate</a:t>
            </a:r>
            <a:endParaRPr/>
          </a:p>
        </p:txBody>
      </p:sp>
      <p:sp>
        <p:nvSpPr>
          <p:cNvPr id="389" name="Google Shape;389;p67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fmt (Format)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automatically formats Terraform files to follow the canonical style.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Syntax: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fmt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validate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validates the syntax and semantics of Terraform configurations.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validate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0B7F3C9C-F387-570C-4667-4BD6D354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>
            <a:extLst>
              <a:ext uri="{FF2B5EF4-FFF2-40B4-BE49-F238E27FC236}">
                <a16:creationId xmlns:a16="http://schemas.microsoft.com/office/drawing/2014/main" id="{1096D744-0FBF-1C3B-65B8-293D5B5A3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5604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Explicit Dependency</a:t>
            </a:r>
            <a:endParaRPr dirty="0"/>
          </a:p>
        </p:txBody>
      </p:sp>
      <p:sp>
        <p:nvSpPr>
          <p:cNvPr id="389" name="Google Shape;389;p67">
            <a:extLst>
              <a:ext uri="{FF2B5EF4-FFF2-40B4-BE49-F238E27FC236}">
                <a16:creationId xmlns:a16="http://schemas.microsoft.com/office/drawing/2014/main" id="{6E3F3959-D8A2-04A6-C5B1-DCE45960A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88804"/>
            <a:ext cx="8456743" cy="4273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100" dirty="0">
                <a:latin typeface="Arial"/>
                <a:cs typeface="Arial"/>
                <a:sym typeface="Arial"/>
              </a:rPr>
              <a:t>Sometimes there are </a:t>
            </a:r>
            <a:r>
              <a:rPr lang="en-US" sz="1100" b="1" dirty="0">
                <a:latin typeface="Arial"/>
                <a:cs typeface="Arial"/>
                <a:sym typeface="Arial"/>
              </a:rPr>
              <a:t>dependencies</a:t>
            </a:r>
            <a:r>
              <a:rPr lang="en-US" sz="1100" dirty="0">
                <a:latin typeface="Arial"/>
                <a:cs typeface="Arial"/>
                <a:sym typeface="Arial"/>
              </a:rPr>
              <a:t> between resources that are not visible to Terraform. Using the </a:t>
            </a:r>
            <a:r>
              <a:rPr lang="en-US" sz="1100" b="1" dirty="0">
                <a:latin typeface="Arial"/>
                <a:cs typeface="Arial"/>
                <a:sym typeface="Arial"/>
              </a:rPr>
              <a:t>depends_on</a:t>
            </a:r>
            <a:r>
              <a:rPr lang="en-US" sz="1100" dirty="0">
                <a:latin typeface="Arial"/>
                <a:cs typeface="Arial"/>
                <a:sym typeface="Arial"/>
              </a:rPr>
              <a:t> argument, we can explicitly specify our dependencies to terraform and make sure that they are provisioned &amp; destroyed in that order.</a:t>
            </a:r>
            <a:endParaRPr lang="en-IN" sz="1100" dirty="0">
              <a:latin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resource "aws_s3_bucket" "example" {}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resource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aws_instance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example_c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ami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         = data.aws_ami.amazon_linux.id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instance_type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= "t2.micro"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depends_on = [aws_s3_bucket.example]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module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example_sqs_queue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source  = "terraform-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-modules/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sqs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/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version = "3.3.0"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depends_on = [aws_s3_bucket.example,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aws_instance.example_c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9765634"/>
      </p:ext>
    </p:extLst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10169</TotalTime>
  <Words>2229</Words>
  <Application>Microsoft Office PowerPoint</Application>
  <PresentationFormat>On-screen Show (16:9)</PresentationFormat>
  <Paragraphs>334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Roboto Mono</vt:lpstr>
      <vt:lpstr>Old Standard TT</vt:lpstr>
      <vt:lpstr>Paperback</vt:lpstr>
      <vt:lpstr>Provisioning Automation with Terraform</vt:lpstr>
      <vt:lpstr>Agenda</vt:lpstr>
      <vt:lpstr>Introduction</vt:lpstr>
      <vt:lpstr>What is IAC</vt:lpstr>
      <vt:lpstr>Infrastructure as Code</vt:lpstr>
      <vt:lpstr>Infrastructure as Code</vt:lpstr>
      <vt:lpstr>What is Terraform</vt:lpstr>
      <vt:lpstr>What is Terraform</vt:lpstr>
      <vt:lpstr>Terraform Lifecycle</vt:lpstr>
      <vt:lpstr>Setting up Terraform</vt:lpstr>
      <vt:lpstr>Terraform Installation</vt:lpstr>
      <vt:lpstr>Basics of Terraform</vt:lpstr>
      <vt:lpstr>Terraform Inputs/Outputs</vt:lpstr>
      <vt:lpstr>Terraform Variables</vt:lpstr>
      <vt:lpstr>Terraform Variable Assignment</vt:lpstr>
      <vt:lpstr>Terraform Outputs</vt:lpstr>
      <vt:lpstr>Terraform Conditionals and Looping</vt:lpstr>
      <vt:lpstr>Terraform looping</vt:lpstr>
      <vt:lpstr>Count meta-argument</vt:lpstr>
      <vt:lpstr>for-each meta-argument</vt:lpstr>
      <vt:lpstr>Terraform Conditionals</vt:lpstr>
      <vt:lpstr>Terraform Modules</vt:lpstr>
      <vt:lpstr>Terraform Modules</vt:lpstr>
      <vt:lpstr>Terraform Modules Usage</vt:lpstr>
      <vt:lpstr>Terraform State Management</vt:lpstr>
      <vt:lpstr>Terraform State Remote Management</vt:lpstr>
      <vt:lpstr>Terraform State Remote Management</vt:lpstr>
      <vt:lpstr>Terraform State Locking</vt:lpstr>
      <vt:lpstr>Manage a manually created resource using TF</vt:lpstr>
      <vt:lpstr>Unmanage a TF created resource </vt:lpstr>
      <vt:lpstr>Misc. Topics</vt:lpstr>
      <vt:lpstr>Data Sources</vt:lpstr>
      <vt:lpstr>Locals</vt:lpstr>
      <vt:lpstr>Terraform Taint/Untaint</vt:lpstr>
      <vt:lpstr>Terraform fmt and validate</vt:lpstr>
      <vt:lpstr>Explicit Dependency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KubeCraft Technologies</cp:lastModifiedBy>
  <cp:revision>30</cp:revision>
  <dcterms:modified xsi:type="dcterms:W3CDTF">2025-12-21T15:07:24Z</dcterms:modified>
</cp:coreProperties>
</file>